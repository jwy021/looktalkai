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720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8D6B5"/>
          </a:solidFill>
          <a:ln w="12700">
            <a:solidFill>
              <a:srgbClr val="38D6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E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LookTalk AI 구현 현황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115214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위에 떠 있는 캐릭터형 AI 비서: 보고, 듣고, 답하고, 읽어주는 데스크톱 위젯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8368" y="18288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목표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2331720"/>
            <a:ext cx="612648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별도 채팅창 대신 화면 위에 항상 떠 있는 작은 AI 비서 제공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텍스트, 음성, 파일, 현재 화면을 한 요청으로 묶어 Gemini에 전달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캐릭터 상태 변화와 TTS로 응답 경험을 자연스럽게 표현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06908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24313A">
              <a:alpha val="92000"/>
            </a:srgbClr>
          </a:solidFill>
          <a:ln w="12700">
            <a:solidFill>
              <a:srgbClr val="24313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5800" y="413308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1700784" y="40690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1AAE91">
              <a:alpha val="92000"/>
            </a:srgbClr>
          </a:solidFill>
          <a:ln w="12700">
            <a:solidFill>
              <a:srgbClr val="1AAE9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700784" y="4133088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/ Vertex AI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3246120" y="4069080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5EB6FF">
              <a:alpha val="92000"/>
            </a:srgbClr>
          </a:solidFill>
          <a:ln w="12700">
            <a:solidFill>
              <a:srgbClr val="5EB6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246120" y="413308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4370832" y="40690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7D7D">
              <a:alpha val="92000"/>
            </a:srgbClr>
          </a:solidFill>
          <a:ln w="12700">
            <a:solidFill>
              <a:srgbClr val="FF7D7D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370832" y="4133088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TTS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658368" y="5687568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9FBFD"/>
          </a:solidFill>
          <a:ln w="12700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58368" y="5687568"/>
            <a:ext cx="54864" cy="530352"/>
          </a:xfrm>
          <a:prstGeom prst="rect">
            <a:avLst/>
          </a:prstGeom>
          <a:solidFill>
            <a:srgbClr val="5EB6FF"/>
          </a:solidFill>
          <a:ln w="12700">
            <a:solidFill>
              <a:srgbClr val="5EB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22960" y="5833872"/>
            <a:ext cx="10588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</a:t>
            </a:r>
            <a:r>
              <a:rPr lang="en-US" sz="105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챗봇이 아니라 “작은 데스크톱 동반 </a:t>
            </a:r>
            <a:r>
              <a:rPr lang="en-US" sz="1050" b="1" dirty="0" err="1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비서”로</a:t>
            </a:r>
            <a:r>
              <a:rPr lang="ko-KR" altLang="en-US" sz="105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구현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82980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LookTalk AI 구현 현황 |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8D6B5"/>
          </a:solidFill>
          <a:ln w="12700">
            <a:solidFill>
              <a:srgbClr val="38D6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E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</a:t>
            </a:r>
            <a:r>
              <a:rPr lang="en-US" sz="240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기능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115214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입력부터 AI 응답, UI 피드백까지 하나의 사용 흐름으로 연결됨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58368" y="1783080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D6DEE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58368" y="1783080"/>
            <a:ext cx="73152" cy="1078992"/>
          </a:xfrm>
          <a:prstGeom prst="rect">
            <a:avLst/>
          </a:prstGeom>
          <a:solidFill>
            <a:srgbClr val="38D6B5"/>
          </a:solidFill>
          <a:ln w="12700">
            <a:solidFill>
              <a:srgbClr val="38D6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86968" y="19476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플로팅 위젯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886968" y="229514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투명·프레임리스·항상 위 창, 위치 저장, 드래그 이동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361688" y="1783080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D6DEE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361688" y="1783080"/>
            <a:ext cx="73152" cy="1078992"/>
          </a:xfrm>
          <a:prstGeom prst="rect">
            <a:avLst/>
          </a:prstGeom>
          <a:solidFill>
            <a:srgbClr val="5EB6FF"/>
          </a:solidFill>
          <a:ln w="12700">
            <a:solidFill>
              <a:srgbClr val="5EB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90288" y="19476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멀티모달 질문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4590288" y="229514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텍스트, 음성, 이미지, PDF, 텍스트 파일, 화면 캡처 입력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065008" y="1783080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D6DEE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065008" y="1783080"/>
            <a:ext cx="73152" cy="1078992"/>
          </a:xfrm>
          <a:prstGeom prst="rect">
            <a:avLst/>
          </a:prstGeom>
          <a:solidFill>
            <a:srgbClr val="FF7D7D"/>
          </a:solidFill>
          <a:ln w="12700">
            <a:solidFill>
              <a:srgbClr val="FF7D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93608" y="19476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응답 생성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8293608" y="229514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Gemini 호출, 성격 프롬프트, 답변 길이 옵션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58368" y="3291840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D6DEE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58368" y="3291840"/>
            <a:ext cx="73152" cy="1078992"/>
          </a:xfrm>
          <a:prstGeom prst="rect">
            <a:avLst/>
          </a:prstGeom>
          <a:solidFill>
            <a:srgbClr val="F4CF4F"/>
          </a:solidFill>
          <a:ln w="12700">
            <a:solidFill>
              <a:srgbClr val="F4CF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86968" y="34564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읽어주기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886968" y="380390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TTS 요청 후 브라우저 Audio로 재생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361688" y="3291840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D6DEE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361688" y="3291840"/>
            <a:ext cx="73152" cy="1078992"/>
          </a:xfrm>
          <a:prstGeom prst="rect">
            <a:avLst/>
          </a:prstGeom>
          <a:solidFill>
            <a:srgbClr val="1AAE91"/>
          </a:solidFill>
          <a:ln w="12700">
            <a:solidFill>
              <a:srgbClr val="1AAE9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590288" y="34564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캐릭터 반응</a:t>
            </a:r>
            <a:endParaRPr lang="en-US" sz="1230" dirty="0"/>
          </a:p>
        </p:txBody>
      </p:sp>
      <p:sp>
        <p:nvSpPr>
          <p:cNvPr id="26" name="Text 24"/>
          <p:cNvSpPr/>
          <p:nvPr/>
        </p:nvSpPr>
        <p:spPr>
          <a:xfrm>
            <a:off x="4590288" y="380390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idle/listening/thinking/happy/error 상태별 표정·손 동작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8065008" y="3291840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D6DEE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8065008" y="3291840"/>
            <a:ext cx="73152" cy="1078992"/>
          </a:xfrm>
          <a:prstGeom prst="rect">
            <a:avLst/>
          </a:prstGeom>
          <a:solidFill>
            <a:srgbClr val="24313A"/>
          </a:solidFill>
          <a:ln w="12700">
            <a:solidFill>
              <a:srgbClr val="2431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293608" y="34564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설정·기록</a:t>
            </a:r>
            <a:endParaRPr lang="en-US" sz="1230" dirty="0"/>
          </a:p>
        </p:txBody>
      </p:sp>
      <p:sp>
        <p:nvSpPr>
          <p:cNvPr id="30" name="Text 28"/>
          <p:cNvSpPr/>
          <p:nvPr/>
        </p:nvSpPr>
        <p:spPr>
          <a:xfrm>
            <a:off x="8293608" y="380390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테마, 성격, 말풍선 시간, 음성 트리거, 기록 저장 토글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658368" y="5687568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9FBFD"/>
          </a:solidFill>
          <a:ln w="12700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58368" y="5687568"/>
            <a:ext cx="54864" cy="530352"/>
          </a:xfrm>
          <a:prstGeom prst="rect">
            <a:avLst/>
          </a:prstGeom>
          <a:solidFill>
            <a:srgbClr val="5EB6FF"/>
          </a:solidFill>
          <a:ln w="12700">
            <a:solidFill>
              <a:srgbClr val="5EB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22960" y="5833872"/>
            <a:ext cx="10588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포인트: 각 기능은 따로 존재하는 것이 아니라, 위젯 UX 안에서 자연스럽게 이어지도록 구현되었습니다.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82980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LookTalk AI 구현 현황 |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8D6B5"/>
          </a:solidFill>
          <a:ln w="12700">
            <a:solidFill>
              <a:srgbClr val="38D6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E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구조와 역할 분리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115214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 Main과 Renderer를 분리하고, Preload를 통해 필요한 API만 노출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1901952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8D6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Renderer UI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395728" y="2231136"/>
            <a:ext cx="594360" cy="0"/>
          </a:xfrm>
          <a:prstGeom prst="line">
            <a:avLst/>
          </a:prstGeom>
          <a:noFill/>
          <a:ln w="17780">
            <a:solidFill>
              <a:srgbClr val="A9B6C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090672" y="1901952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5EB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182112" y="21031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Preload API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709160" y="2231136"/>
            <a:ext cx="594360" cy="0"/>
          </a:xfrm>
          <a:prstGeom prst="line">
            <a:avLst/>
          </a:prstGeom>
          <a:noFill/>
          <a:ln w="17780">
            <a:solidFill>
              <a:srgbClr val="A9B6C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394960" y="190195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7D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0" y="21031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 Main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114032" y="2231136"/>
            <a:ext cx="594360" cy="0"/>
          </a:xfrm>
          <a:prstGeom prst="line">
            <a:avLst/>
          </a:prstGeom>
          <a:noFill/>
          <a:ln w="17780">
            <a:solidFill>
              <a:srgbClr val="A9B6C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818120" y="1901952"/>
            <a:ext cx="1691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4CF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909560" y="210312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/ TTS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9637776" y="2231136"/>
            <a:ext cx="548640" cy="0"/>
          </a:xfrm>
          <a:prstGeom prst="line">
            <a:avLst/>
          </a:prstGeom>
          <a:noFill/>
          <a:ln w="17780">
            <a:solidFill>
              <a:srgbClr val="A9B6C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287000" y="1901952"/>
            <a:ext cx="1143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1AAE9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0378440" y="21031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표시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77240" y="3246120"/>
            <a:ext cx="324612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D6DEE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87552" y="34564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12E"/>
                </a:solidFill>
              </a:rPr>
              <a:t>Renderer 모듈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7552" y="3767328"/>
            <a:ext cx="26060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87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app.js: 사용 흐름 제어</a:t>
            </a:r>
            <a:endParaRPr lang="en-US" sz="870" dirty="0"/>
          </a:p>
          <a:p>
            <a:pPr marL="165100" indent="-165100">
              <a:buSzPct val="100000"/>
              <a:buChar char="•"/>
            </a:pPr>
            <a:r>
              <a:rPr lang="en-US" sz="87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UIController: 캐릭터 상태</a:t>
            </a:r>
            <a:endParaRPr lang="en-US" sz="870" dirty="0"/>
          </a:p>
          <a:p>
            <a:pPr marL="165100" indent="-165100">
              <a:buSzPct val="100000"/>
              <a:buChar char="•"/>
            </a:pPr>
            <a:r>
              <a:rPr lang="en-US" sz="87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History/Theme/Speech/Face 모듈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4434840" y="3246120"/>
            <a:ext cx="324612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D6DEE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645152" y="34564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12E"/>
                </a:solidFill>
              </a:rPr>
              <a:t>Main 프로세스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45152" y="3767328"/>
            <a:ext cx="25603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87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 생성/이동/크기 조절</a:t>
            </a:r>
            <a:endParaRPr lang="en-US" sz="870" dirty="0"/>
          </a:p>
          <a:p>
            <a:pPr marL="165100" indent="-165100">
              <a:buSzPct val="100000"/>
              <a:buChar char="•"/>
            </a:pPr>
            <a:r>
              <a:rPr lang="en-US" sz="87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캡처 IPC</a:t>
            </a:r>
            <a:endParaRPr lang="en-US" sz="870" dirty="0"/>
          </a:p>
          <a:p>
            <a:pPr marL="165100" indent="-165100">
              <a:buSzPct val="100000"/>
              <a:buChar char="•"/>
            </a:pPr>
            <a:r>
              <a:rPr lang="en-US" sz="87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AI·TTS 요청 중계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8092440" y="3246120"/>
            <a:ext cx="324612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D6DEE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302752" y="34564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12E"/>
                </a:solidFill>
              </a:rPr>
              <a:t>외부 AI 연동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02752" y="3767328"/>
            <a:ext cx="25603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87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 기반 Google 토큰 발급</a:t>
            </a:r>
            <a:endParaRPr lang="en-US" sz="870" dirty="0"/>
          </a:p>
          <a:p>
            <a:pPr marL="165100" indent="-165100">
              <a:buSzPct val="100000"/>
              <a:buChar char="•"/>
            </a:pPr>
            <a:r>
              <a:rPr lang="en-US" sz="87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generateContent</a:t>
            </a:r>
            <a:endParaRPr lang="en-US" sz="870" dirty="0"/>
          </a:p>
          <a:p>
            <a:pPr marL="165100" indent="-165100">
              <a:buSzPct val="100000"/>
              <a:buChar char="•"/>
            </a:pPr>
            <a:r>
              <a:rPr lang="en-US" sz="87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TTS synthesize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658368" y="5687568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9FBFD"/>
          </a:solidFill>
          <a:ln w="12700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58368" y="5687568"/>
            <a:ext cx="54864" cy="530352"/>
          </a:xfrm>
          <a:prstGeom prst="rect">
            <a:avLst/>
          </a:prstGeom>
          <a:solidFill>
            <a:srgbClr val="5EB6FF"/>
          </a:solidFill>
          <a:ln w="12700">
            <a:solidFill>
              <a:srgbClr val="5EB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822960" y="5833872"/>
            <a:ext cx="10588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포인트: 보안과 유지보수를 위해 Renderer가 Node에 직접 접근하지 않고, preload API를 통해 필요한 기능만 호출합니다.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82980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LookTalk AI 구현 현황 |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8D6B5"/>
          </a:solidFill>
          <a:ln w="12700">
            <a:solidFill>
              <a:srgbClr val="38D6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E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방식: 말하고, 붙이고, 화면까지 포함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115214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사용자는 상황에 맞게 여러 입력을 조합해 AI에게 질문할 수 있음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2240280" cy="306324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D6DEE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24128" y="2029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2E"/>
                </a:solidFill>
              </a:rPr>
              <a:t>텍스트 입력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2423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E6B7A"/>
                </a:solidFill>
              </a:rPr>
              <a:t>입력창 토글 후 Enter 또는 전송 버튼으로 질문합니다.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783080"/>
            <a:ext cx="2240280" cy="306324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D6DEE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584448" y="2029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2E"/>
                </a:solidFill>
              </a:rPr>
              <a:t>음성 입력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84448" y="2423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E6B7A"/>
                </a:solidFill>
              </a:rPr>
              <a:t>MediaRecorder로 음성을 녹음하고, 무음 감지 후 자동 종료합니다.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97880" y="1783080"/>
            <a:ext cx="2240280" cy="306324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D6DEE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144768" y="2029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2E"/>
                </a:solidFill>
              </a:rPr>
              <a:t>파일 첨부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44768" y="2423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E6B7A"/>
                </a:solidFill>
              </a:rPr>
              <a:t>이미지, PDF, 텍스트 계열 파일을 Base64 또는 텍스트로 변환해 전달합니다.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458200" y="1783080"/>
            <a:ext cx="2240280" cy="306324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D6DEE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705088" y="2029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2E"/>
                </a:solidFill>
              </a:rPr>
              <a:t>화면 캡처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05088" y="2423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E6B7A"/>
                </a:solidFill>
              </a:rPr>
              <a:t>활성화된 경우 현재 디스플레이 썸네일을 PNG Base64로 첨부합니다.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51560" y="5138928"/>
            <a:ext cx="9966960" cy="502920"/>
          </a:xfrm>
          <a:prstGeom prst="roundRect">
            <a:avLst>
              <a:gd name="adj" fmla="val 14545"/>
            </a:avLst>
          </a:prstGeom>
          <a:solidFill>
            <a:srgbClr val="F9FBFD"/>
          </a:solidFill>
          <a:ln w="12700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051560" y="5138928"/>
            <a:ext cx="54864" cy="502920"/>
          </a:xfrm>
          <a:prstGeom prst="rect">
            <a:avLst/>
          </a:prstGeom>
          <a:solidFill>
            <a:srgbClr val="38D6B5"/>
          </a:solidFill>
          <a:ln w="12700">
            <a:solidFill>
              <a:srgbClr val="38D6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216152" y="5285232"/>
            <a:ext cx="9674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입력은 requestAiResponse()에서 하나의 payload로 합쳐진 뒤 Main 프로세스로 전달됩니다.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82980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LookTalk AI 구현 현황 |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8D6B5"/>
          </a:solidFill>
          <a:ln w="12700">
            <a:solidFill>
              <a:srgbClr val="38D6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E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트리거: 손 들기 인식으로 녹음 시작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115214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FaceLandmarker와 HandLandmarker를 이용해 카메라 기반 트리거를 구현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755648"/>
            <a:ext cx="48920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D6DEE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78992" y="19933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2E"/>
                </a:solidFill>
              </a:rPr>
              <a:t>감지 조건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450592"/>
            <a:ext cx="39776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4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얼굴 기준 이마 위치를 기준점으로 사용</a:t>
            </a:r>
            <a:endParaRPr lang="en-US" sz="1140" dirty="0"/>
          </a:p>
          <a:p>
            <a:pPr marL="165100" indent="-165100">
              <a:buSzPct val="100000"/>
              <a:buChar char="•"/>
            </a:pPr>
            <a:r>
              <a:rPr lang="en-US" sz="114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손목보다 검지·중지 끝이 위에 있는지 확인</a:t>
            </a:r>
            <a:endParaRPr lang="en-US" sz="1140" dirty="0"/>
          </a:p>
          <a:p>
            <a:pPr marL="165100" indent="-165100">
              <a:buSzPct val="100000"/>
              <a:buChar char="•"/>
            </a:pPr>
            <a:r>
              <a:rPr lang="en-US" sz="114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손끝이 이마보다 충분히 위에 있고, 손이 펴진 상태인지 검사</a:t>
            </a:r>
            <a:endParaRPr lang="en-US" sz="1140" dirty="0"/>
          </a:p>
          <a:p>
            <a:pPr marL="165100" indent="-165100">
              <a:buSzPct val="100000"/>
              <a:buChar char="•"/>
            </a:pPr>
            <a:r>
              <a:rPr lang="en-US" sz="114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조건이 맞으면 SpeechHandler.start()로 녹음 시작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6080760" y="1755648"/>
            <a:ext cx="45720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D6DEE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336792" y="19933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2E"/>
                </a:solidFill>
              </a:rPr>
              <a:t>사용자 경험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2450592"/>
            <a:ext cx="37947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4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키보드를 쓰지 않아도 질문을 시작할 수 있음</a:t>
            </a:r>
            <a:endParaRPr lang="en-US" sz="1140" dirty="0"/>
          </a:p>
          <a:p>
            <a:pPr marL="165100" indent="-165100">
              <a:buSzPct val="100000"/>
              <a:buChar char="•"/>
            </a:pPr>
            <a:r>
              <a:rPr lang="en-US" sz="114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녹음 중에는 로봇이 listening 상태로 바뀜</a:t>
            </a:r>
            <a:endParaRPr lang="en-US" sz="1140" dirty="0"/>
          </a:p>
          <a:p>
            <a:pPr marL="165100" indent="-165100">
              <a:buSzPct val="100000"/>
              <a:buChar char="•"/>
            </a:pPr>
            <a:r>
              <a:rPr lang="en-US" sz="114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목소리 볼륨에 따라 입과 안테나가 반응</a:t>
            </a:r>
            <a:endParaRPr lang="en-US" sz="1140" dirty="0"/>
          </a:p>
          <a:p>
            <a:pPr marL="165100" indent="-165100">
              <a:buSzPct val="100000"/>
              <a:buChar char="•"/>
            </a:pPr>
            <a:r>
              <a:rPr lang="en-US" sz="114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설정에서 음성 트리거를 끄면 카메라 스트림도 정리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658368" y="5687568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9FBFD"/>
          </a:solidFill>
          <a:ln w="12700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58368" y="5687568"/>
            <a:ext cx="54864" cy="530352"/>
          </a:xfrm>
          <a:prstGeom prst="rect">
            <a:avLst/>
          </a:prstGeom>
          <a:solidFill>
            <a:srgbClr val="5EB6FF"/>
          </a:solidFill>
          <a:ln w="12700">
            <a:solidFill>
              <a:srgbClr val="5EB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22960" y="5833872"/>
            <a:ext cx="10588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포인트: 여기서는 “손을 들면 비서가 듣기 시작한다”는 사용 장면을 중심으로 설명하면 이해가 쉽습니다.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82980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LookTalk AI 구현 현황 |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8D6B5"/>
          </a:solidFill>
          <a:ln w="12700">
            <a:solidFill>
              <a:srgbClr val="38D6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E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FLOW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요청 처리 흐름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115214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입력을 Gemini 멀티모달 parts로 구성하고 최근 대화 맥락을 함께 전달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8D6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수집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286000" y="2203704"/>
            <a:ext cx="658368" cy="0"/>
          </a:xfrm>
          <a:prstGeom prst="line">
            <a:avLst/>
          </a:prstGeom>
          <a:noFill/>
          <a:ln w="17780">
            <a:solidFill>
              <a:srgbClr val="A9B6C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063240" y="18745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5EB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154680" y="20756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구성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517136" y="2203704"/>
            <a:ext cx="658368" cy="0"/>
          </a:xfrm>
          <a:prstGeom prst="line">
            <a:avLst/>
          </a:prstGeom>
          <a:noFill/>
          <a:ln w="17780">
            <a:solidFill>
              <a:srgbClr val="A9B6C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303520" y="18745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7D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394960" y="20756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맥락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766560" y="2203704"/>
            <a:ext cx="658368" cy="0"/>
          </a:xfrm>
          <a:prstGeom prst="line">
            <a:avLst/>
          </a:prstGeom>
          <a:noFill/>
          <a:ln w="17780">
            <a:solidFill>
              <a:srgbClr val="A9B6C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543800" y="18745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4CF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635240" y="20756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997696" y="2203704"/>
            <a:ext cx="658368" cy="0"/>
          </a:xfrm>
          <a:prstGeom prst="line">
            <a:avLst/>
          </a:prstGeom>
          <a:noFill/>
          <a:ln w="17780">
            <a:solidFill>
              <a:srgbClr val="A9B6C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765792" y="18745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1AAE9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857232" y="20756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표시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822960" y="3246120"/>
            <a:ext cx="3108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D6DEE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60704" y="34930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12E"/>
                </a:solidFill>
              </a:rPr>
              <a:t>프롬프트 제어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60704" y="3858768"/>
            <a:ext cx="23774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성격: 차분, 발랄, 시크, 비서</a:t>
            </a:r>
            <a:endParaRPr lang="en-US" sz="940" dirty="0"/>
          </a:p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 길이: 짧게, 보통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4434840" y="3246120"/>
            <a:ext cx="3108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D6DEE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672584" y="34930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12E"/>
                </a:solidFill>
              </a:rPr>
              <a:t>맥락 유지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72584" y="3858768"/>
            <a:ext cx="23774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대화 최대 10개를 전달</a:t>
            </a:r>
            <a:endParaRPr lang="en-US" sz="940" dirty="0"/>
          </a:p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Assistant는 Vertex AI의 model role로 변환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8046720" y="3246120"/>
            <a:ext cx="3108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D6DEE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284464" y="34930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12E"/>
                </a:solidFill>
              </a:rPr>
              <a:t>응답 안정성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84464" y="3858768"/>
            <a:ext cx="23774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 캐시로 인증 재사용</a:t>
            </a:r>
            <a:endParaRPr lang="en-US" sz="940" dirty="0"/>
          </a:p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 발생 시 UI error 상태 표시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658368" y="5687568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9FBFD"/>
          </a:solidFill>
          <a:ln w="12700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58368" y="5687568"/>
            <a:ext cx="54864" cy="530352"/>
          </a:xfrm>
          <a:prstGeom prst="rect">
            <a:avLst/>
          </a:prstGeom>
          <a:solidFill>
            <a:srgbClr val="5EB6FF"/>
          </a:solidFill>
          <a:ln w="12700">
            <a:solidFill>
              <a:srgbClr val="5EB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822960" y="5833872"/>
            <a:ext cx="10588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포인트: AI 연동은 단순 텍스트 호출이 아니라 이미지·PDF·화면·음성까지 같은 파이프라인에 올리는 구조입니다.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82980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LookTalk AI 구현 현황 |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8D6B5"/>
          </a:solidFill>
          <a:ln w="12700">
            <a:solidFill>
              <a:srgbClr val="38D6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E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STATES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캐릭터 UI와 상태 피드백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115214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사용자가 앱 상태를 바로 이해하도록 표정, 손동작, 말풍선, 색상으로 피드백 제공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1783080"/>
            <a:ext cx="10012680" cy="438912"/>
          </a:xfrm>
          <a:prstGeom prst="roundRect">
            <a:avLst>
              <a:gd name="adj" fmla="val 16667"/>
            </a:avLst>
          </a:prstGeom>
          <a:solidFill>
            <a:srgbClr val="F9FBFD"/>
          </a:solidFill>
          <a:ln w="12700">
            <a:solidFill>
              <a:srgbClr val="E5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97280" y="191109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AAE91"/>
                </a:solidFill>
              </a:rPr>
              <a:t>idle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2304288" y="191109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7212E"/>
                </a:solidFill>
              </a:rPr>
              <a:t>대기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3767328" y="1911096"/>
            <a:ext cx="6217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5E6B7A"/>
                </a:solidFill>
              </a:rPr>
              <a:t>눈 깜빡임, 몸체 부유 애니메이션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868680" y="2468880"/>
            <a:ext cx="10012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97280" y="259689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AAE91"/>
                </a:solidFill>
              </a:rPr>
              <a:t>listening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2304288" y="259689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7212E"/>
                </a:solidFill>
              </a:rPr>
              <a:t>듣는 중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3767328" y="2596896"/>
            <a:ext cx="6217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5E6B7A"/>
                </a:solidFill>
              </a:rPr>
              <a:t>손 들기, 입/안테나 볼륨 반응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868680" y="3154680"/>
            <a:ext cx="10012680" cy="438912"/>
          </a:xfrm>
          <a:prstGeom prst="roundRect">
            <a:avLst>
              <a:gd name="adj" fmla="val 16667"/>
            </a:avLst>
          </a:prstGeom>
          <a:solidFill>
            <a:srgbClr val="F9FBFD"/>
          </a:solidFill>
          <a:ln w="12700">
            <a:solidFill>
              <a:srgbClr val="E5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97280" y="328269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AAE91"/>
                </a:solidFill>
              </a:rPr>
              <a:t>thinking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2304288" y="328269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7212E"/>
                </a:solidFill>
              </a:rPr>
              <a:t>생각 중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3767328" y="3282696"/>
            <a:ext cx="6217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5E6B7A"/>
                </a:solidFill>
              </a:rPr>
              <a:t>노란 글로우, 턱 괴는 손동작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868680" y="3840480"/>
            <a:ext cx="10012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097280" y="396849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AAE91"/>
                </a:solidFill>
              </a:rPr>
              <a:t>happy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2304288" y="396849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7212E"/>
                </a:solidFill>
              </a:rPr>
              <a:t>응답 완료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3767328" y="3968496"/>
            <a:ext cx="6217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5E6B7A"/>
                </a:solidFill>
              </a:rPr>
              <a:t>하트 눈 컨셉과 만세 동작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868680" y="4526280"/>
            <a:ext cx="10012680" cy="438912"/>
          </a:xfrm>
          <a:prstGeom prst="roundRect">
            <a:avLst>
              <a:gd name="adj" fmla="val 16667"/>
            </a:avLst>
          </a:prstGeom>
          <a:solidFill>
            <a:srgbClr val="F9FBFD"/>
          </a:solidFill>
          <a:ln w="12700">
            <a:solidFill>
              <a:srgbClr val="E5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097280" y="465429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AAE91"/>
                </a:solidFill>
              </a:rPr>
              <a:t>error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2304288" y="465429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7212E"/>
                </a:solidFill>
              </a:rPr>
              <a:t>오류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3767328" y="4654296"/>
            <a:ext cx="6217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5E6B7A"/>
                </a:solidFill>
              </a:rPr>
              <a:t>빨간 글로우와 당황 동작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1097280" y="5349240"/>
            <a:ext cx="9509760" cy="475488"/>
          </a:xfrm>
          <a:prstGeom prst="roundRect">
            <a:avLst>
              <a:gd name="adj" fmla="val 15385"/>
            </a:avLst>
          </a:prstGeom>
          <a:solidFill>
            <a:srgbClr val="F9FBFD"/>
          </a:solidFill>
          <a:ln w="12700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097280" y="5349240"/>
            <a:ext cx="54864" cy="475488"/>
          </a:xfrm>
          <a:prstGeom prst="rect">
            <a:avLst/>
          </a:prstGeom>
          <a:solidFill>
            <a:srgbClr val="FF7D7D"/>
          </a:solidFill>
          <a:ln w="12700">
            <a:solidFill>
              <a:srgbClr val="FF7D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261872" y="5495544"/>
            <a:ext cx="9217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말풍선은 타이핑 애니메이션과 자동 스크롤을 적용해 긴 답변도 작은 위젯 안에서 표시합니다.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82980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LookTalk AI 구현 현황 |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8D6B5"/>
          </a:solidFill>
          <a:ln w="12700">
            <a:solidFill>
              <a:srgbClr val="38D6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E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개인화와 기록 관리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115214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작은 위젯 안에서 필요한 설정을 즉시 바꾸고, 최근 대화 흐름을 유지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3337560" cy="3035808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D6DEE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78992" y="2029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2E"/>
                </a:solidFill>
              </a:rPr>
              <a:t>설정 패널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2487168"/>
            <a:ext cx="251460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컬러 팔레트 4종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성격 프리셋 4종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 길이와 말풍선 시간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트리거, 기록 저장, TTS 토글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526280" y="1783080"/>
            <a:ext cx="3337560" cy="3035808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D6DEE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782312" y="2029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2E"/>
                </a:solidFill>
              </a:rPr>
              <a:t>대화 기록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82312" y="2487168"/>
            <a:ext cx="251460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기록 서랍 UI 제공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localStorage에 최근 30개 저장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요청에는 최근 10개 맥락 전달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escape로 기록 표시 안정화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229600" y="1783080"/>
            <a:ext cx="2423160" cy="3035808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D6DEE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485632" y="2029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2E"/>
                </a:solidFill>
              </a:rPr>
              <a:t>창 동작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85632" y="2487168"/>
            <a:ext cx="169164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프레임리스 투명 창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항상 위 표시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 저장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패널 상태에 따른 크기 변경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58368" y="5687568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9FBFD"/>
          </a:solidFill>
          <a:ln w="12700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58368" y="5687568"/>
            <a:ext cx="54864" cy="530352"/>
          </a:xfrm>
          <a:prstGeom prst="rect">
            <a:avLst/>
          </a:prstGeom>
          <a:solidFill>
            <a:srgbClr val="5EB6FF"/>
          </a:solidFill>
          <a:ln w="12700">
            <a:solidFill>
              <a:srgbClr val="5EB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2960" y="5833872"/>
            <a:ext cx="10588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포인트: 사용자가 반복적으로 쓰게 되는 앱이므로, 설정과 기록 저장을 작은 인터랙션 안에 넣은 점을 설명합니다.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82980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LookTalk AI 구현 현황 |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8D6B5"/>
          </a:solidFill>
          <a:ln w="12700">
            <a:solidFill>
              <a:srgbClr val="38D6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AE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마무리: 구현 성과와 다음 단계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115214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구현은 핵심 사용 흐름을 완성했고, 배포와 안정화 단계로 확장 가능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719072"/>
            <a:ext cx="47548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D6DEE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78992" y="19933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12E"/>
                </a:solidFill>
              </a:rPr>
              <a:t>구현 성과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78992" y="2487168"/>
            <a:ext cx="37033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8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캐릭터형 데스크톱 AI 위젯 UX 구성</a:t>
            </a:r>
            <a:endParaRPr lang="en-US" sz="1180" dirty="0"/>
          </a:p>
          <a:p>
            <a:pPr marL="165100" indent="-165100">
              <a:buSzPct val="100000"/>
              <a:buChar char="•"/>
            </a:pPr>
            <a:r>
              <a:rPr lang="en-US" sz="118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 들기 기반 음성 트리거와 자동 녹음 종료</a:t>
            </a:r>
            <a:endParaRPr lang="en-US" sz="1180" dirty="0"/>
          </a:p>
          <a:p>
            <a:pPr marL="165100" indent="-165100">
              <a:buSzPct val="100000"/>
              <a:buChar char="•"/>
            </a:pPr>
            <a:r>
              <a:rPr lang="en-US" sz="118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멀티모달 Gemini 요청과 TTS 응답 재생</a:t>
            </a:r>
            <a:endParaRPr lang="en-US" sz="1180" dirty="0"/>
          </a:p>
          <a:p>
            <a:pPr marL="165100" indent="-165100">
              <a:buSzPct val="100000"/>
              <a:buChar char="•"/>
            </a:pPr>
            <a:r>
              <a:rPr lang="en-US" sz="118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설정, 테마, 기록, 화면 캡처까지 기본 제품 흐름 완성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080760" y="1719072"/>
            <a:ext cx="47548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D6DEE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336792" y="19933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12E"/>
                </a:solidFill>
              </a:rPr>
              <a:t>다음 단계 제안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36792" y="2487168"/>
            <a:ext cx="37033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8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안내와 오류 메시지 UX 개선</a:t>
            </a:r>
            <a:endParaRPr lang="en-US" sz="1180" dirty="0"/>
          </a:p>
          <a:p>
            <a:pPr marL="165100" indent="-165100">
              <a:buSzPct val="100000"/>
              <a:buChar char="•"/>
            </a:pPr>
            <a:r>
              <a:rPr lang="en-US" sz="118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설정/키 관리 방식 정리 및 배포 패키징</a:t>
            </a:r>
            <a:endParaRPr lang="en-US" sz="1180" dirty="0"/>
          </a:p>
          <a:p>
            <a:pPr marL="165100" indent="-165100">
              <a:buSzPct val="100000"/>
              <a:buChar char="•"/>
            </a:pPr>
            <a:r>
              <a:rPr lang="en-US" sz="118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트리거 민감도 옵션화</a:t>
            </a:r>
            <a:endParaRPr lang="en-US" sz="1180" dirty="0"/>
          </a:p>
          <a:p>
            <a:pPr marL="165100" indent="-165100">
              <a:buSzPct val="100000"/>
              <a:buChar char="•"/>
            </a:pPr>
            <a:r>
              <a:rPr lang="en-US" sz="1180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실사용 테스트로 응답 지연과 화면 캡처 품질 튜닝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1097280" y="5303520"/>
            <a:ext cx="9646920" cy="530352"/>
          </a:xfrm>
          <a:prstGeom prst="roundRect">
            <a:avLst>
              <a:gd name="adj" fmla="val 13793"/>
            </a:avLst>
          </a:prstGeom>
          <a:solidFill>
            <a:srgbClr val="F9FBFD"/>
          </a:solidFill>
          <a:ln w="12700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97280" y="5303520"/>
            <a:ext cx="54864" cy="530352"/>
          </a:xfrm>
          <a:prstGeom prst="rect">
            <a:avLst/>
          </a:prstGeom>
          <a:solidFill>
            <a:srgbClr val="38D6B5"/>
          </a:solidFill>
          <a:ln w="12700">
            <a:solidFill>
              <a:srgbClr val="38D6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261872" y="5449824"/>
            <a:ext cx="9354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2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메시지: LookTalk AI는 “화면을 함께 보고 대화하는 캐릭터형 비서”의 MVP를 구현한 상태입니다.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82980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LookTalk AI 구현 현황 | 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927</Words>
  <Application>Microsoft Macintosh PowerPoint</Application>
  <PresentationFormat>와이드스크린</PresentationFormat>
  <Paragraphs>163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LookTalkAI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LookTalk AI 구현 현황 발표</dc:title>
  <dc:subject>LookTalkAI implemented features presentation</dc:subject>
  <dc:creator>LookTalkAI</dc:creator>
  <cp:lastModifiedBy>송신화</cp:lastModifiedBy>
  <cp:revision>2</cp:revision>
  <dcterms:created xsi:type="dcterms:W3CDTF">2026-04-16T12:28:50Z</dcterms:created>
  <dcterms:modified xsi:type="dcterms:W3CDTF">2026-04-17T07:58:22Z</dcterms:modified>
</cp:coreProperties>
</file>